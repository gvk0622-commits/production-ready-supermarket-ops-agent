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>
                <a:solidFill>
                  <a:srgbClr val="0F766E"/>
                </a:solidFill>
                <a:latin typeface="Georgia"/>
              </a:rPr>
              <a:t>SRI KRISHNA KIRANA STORE</a:t>
            </a:r>
          </a:p>
          <a:p>
            <a:pPr algn="l">
              <a:spcAft>
                <a:spcPts val="2000"/>
              </a:spcAft>
            </a:pPr>
            <a:r>
              <a:rPr sz="1800" b="0">
                <a:solidFill>
                  <a:srgbClr val="78716C"/>
                </a:solidFill>
                <a:latin typeface="Verdana"/>
              </a:rPr>
              <a:t>Weekly Performance, Inventory Health &amp; Credit Analysis</a:t>
            </a:r>
          </a:p>
          <a:p>
            <a:pPr algn="l"/>
            <a:r>
              <a:rPr sz="1100" b="1">
                <a:solidFill>
                  <a:srgbClr val="0F766E"/>
                </a:solidFill>
                <a:latin typeface="Verdana"/>
              </a:rPr>
              <a:t>Generated by Supermarket Ops AI Agent | Region: Coimbatore, TN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Georgia"/>
              </a:rPr>
              <a:t>Weekly sales totaled ₹1,082.00 with outstanding credit of ₹2,000.00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291840" cy="2286000"/>
          </a:xfrm>
          <a:prstGeom prst="roundRect">
            <a:avLst/>
          </a:prstGeom>
          <a:solidFill>
            <a:srgbClr val="F5F5F4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200" b="1">
                <a:solidFill>
                  <a:srgbClr val="78716C"/>
                </a:solidFill>
                <a:latin typeface="Verdana"/>
              </a:rPr>
              <a:t>STORE SALES REVENUE</a:t>
            </a:r>
          </a:p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F766E"/>
                </a:solidFill>
                <a:latin typeface="Georgia"/>
              </a:rPr>
              <a:t>₹1,082.00</a:t>
            </a:r>
          </a:p>
          <a:p>
            <a:pPr algn="ctr"/>
            <a:r>
              <a:rPr sz="1000" b="0">
                <a:solidFill>
                  <a:srgbClr val="78716C"/>
                </a:solidFill>
                <a:latin typeface="Verdana"/>
              </a:rPr>
              <a:t>Across 2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2286000"/>
          </a:xfrm>
          <a:prstGeom prst="roundRect">
            <a:avLst/>
          </a:prstGeom>
          <a:solidFill>
            <a:srgbClr val="F5F5F4"/>
          </a:solidFill>
          <a:ln w="6350">
            <a:solidFill>
              <a:srgbClr val="78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200" b="1">
                <a:solidFill>
                  <a:srgbClr val="78716C"/>
                </a:solidFill>
                <a:latin typeface="Verdana"/>
              </a:rPr>
              <a:t>GST TAX COLLECTED</a:t>
            </a:r>
          </a:p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F766E"/>
                </a:solidFill>
                <a:latin typeface="Georgia"/>
              </a:rPr>
              <a:t>₹68.52</a:t>
            </a:r>
          </a:p>
          <a:p>
            <a:pPr algn="ctr"/>
            <a:r>
              <a:rPr sz="1000" b="0">
                <a:solidFill>
                  <a:srgbClr val="78716C"/>
                </a:solidFill>
                <a:latin typeface="Verdana"/>
              </a:rPr>
              <a:t>Intrastate CGST/SGST 50/50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291840" cy="2286000"/>
          </a:xfrm>
          <a:prstGeom prst="roundRect">
            <a:avLst/>
          </a:prstGeom>
          <a:solidFill>
            <a:srgbClr val="F5F5F4"/>
          </a:solidFill>
          <a:ln w="6350">
            <a:solidFill>
              <a:srgbClr val="78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200" b="1">
                <a:solidFill>
                  <a:srgbClr val="78716C"/>
                </a:solidFill>
                <a:latin typeface="Verdana"/>
              </a:rPr>
              <a:t>KHATA CREDIT BALANCES</a:t>
            </a:r>
          </a:p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F766E"/>
                </a:solidFill>
                <a:latin typeface="Georgia"/>
              </a:rPr>
              <a:t>₹2,000.00</a:t>
            </a:r>
          </a:p>
          <a:p>
            <a:pPr algn="ctr"/>
            <a:r>
              <a:rPr sz="1000" b="0">
                <a:solidFill>
                  <a:srgbClr val="78716C"/>
                </a:solidFill>
                <a:latin typeface="Verdana"/>
              </a:rPr>
              <a:t>Outstanding customer book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Georgia"/>
              </a:rPr>
              <a:t>Fast-moving items like Atta &amp; Butter drive major share of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ekly_top_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03520" cy="3535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0F766E"/>
                </a:solidFill>
                <a:latin typeface="Verdana"/>
              </a:rPr>
              <a:t>SALES COMPOSITION &amp; MARGIN GAINS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Volume Drivers</a:t>
            </a:r>
            <a:r>
              <a:rPr sz="1200" b="0">
                <a:solidFill>
                  <a:srgbClr val="1C1917"/>
                </a:solidFill>
                <a:latin typeface="Verdana"/>
              </a:rPr>
              <a:t>: FMCG lines (Maggi, Parle-G) register high transaction velocities, ensuring steady daily cash and UPI inflows.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Revenue Anchors</a:t>
            </a:r>
            <a:r>
              <a:rPr sz="1200" b="0">
                <a:solidFill>
                  <a:srgbClr val="1C1917"/>
                </a:solidFill>
                <a:latin typeface="Verdana"/>
              </a:rPr>
              <a:t>: High-value packaged staples like </a:t>
            </a:r>
            <a:r>
              <a:rPr sz="1200" b="1">
                <a:solidFill>
                  <a:srgbClr val="1C1917"/>
                </a:solidFill>
                <a:latin typeface="Verdana"/>
              </a:rPr>
              <a:t>Aashirvaad Atta 5kg</a:t>
            </a:r>
            <a:r>
              <a:rPr sz="1200" b="0">
                <a:solidFill>
                  <a:srgbClr val="1C1917"/>
                </a:solidFill>
                <a:latin typeface="Verdana"/>
              </a:rPr>
              <a:t> and </a:t>
            </a:r>
            <a:r>
              <a:rPr sz="1200" b="1">
                <a:solidFill>
                  <a:srgbClr val="1C1917"/>
                </a:solidFill>
                <a:latin typeface="Verdana"/>
              </a:rPr>
              <a:t>Fortune Oil</a:t>
            </a:r>
            <a:r>
              <a:rPr sz="1200" b="0">
                <a:solidFill>
                  <a:srgbClr val="1C1917"/>
                </a:solidFill>
                <a:latin typeface="Verdana"/>
              </a:rPr>
              <a:t> contribute larger absolute billing values.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Tax Distribution</a:t>
            </a:r>
            <a:r>
              <a:rPr sz="1200" b="0">
                <a:solidFill>
                  <a:srgbClr val="1C1917"/>
                </a:solidFill>
                <a:latin typeface="Verdana"/>
              </a:rPr>
              <a:t>: Items fall under distinct GST brackets (0% for loose grains, 12% for Amul Butter, and 18% for Surf Excel &amp; Maggi), creating a blended tax rate across general bills.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Georgia"/>
              </a:rPr>
              <a:t>All essential SKU stock reserves are healthy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188720"/>
              </a:tblGrid>
              <a:tr h="2057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Item 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Qty Left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Reorder Level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Action Code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8716C"/>
                          </a:solidFill>
                          <a:latin typeface="Verdana"/>
                        </a:rPr>
                        <a:t>All products have adequate stock levels.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8716C"/>
                          </a:solidFill>
                          <a:latin typeface="Verdana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8716C"/>
                          </a:solidFill>
                          <a:latin typeface="Verdana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8716C"/>
                          </a:solidFill>
                          <a:latin typeface="Verdana"/>
                        </a:rP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0F766E"/>
                </a:solidFill>
                <a:latin typeface="Verdana"/>
              </a:rPr>
              <a:t>INVENTORY PROTECTION PROTOCOLS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Automated Warnings</a:t>
            </a:r>
            <a:r>
              <a:rPr sz="1200" b="0">
                <a:solidFill>
                  <a:srgbClr val="1C1917"/>
                </a:solidFill>
                <a:latin typeface="Verdana"/>
              </a:rPr>
              <a:t>: Trigger reorder requests immediately when a SKU sinks below or equals its pre-configured reorder level.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FEFO Principles</a:t>
            </a:r>
            <a:r>
              <a:rPr sz="1200" b="0">
                <a:solidFill>
                  <a:srgbClr val="1C1917"/>
                </a:solidFill>
                <a:latin typeface="Verdana"/>
              </a:rPr>
              <a:t>: Fresh dairy items (Amul Butter) are rotated to avoid expirations, applying First-Expiry First-Out.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C1917"/>
                </a:solidFill>
                <a:latin typeface="Verdana"/>
              </a:rPr>
              <a:t>• </a:t>
            </a:r>
            <a:r>
              <a:rPr sz="1200" b="1">
                <a:solidFill>
                  <a:srgbClr val="1C1917"/>
                </a:solidFill>
                <a:latin typeface="Verdana"/>
              </a:rPr>
              <a:t>Suppliers Consolidated Orders</a:t>
            </a:r>
            <a:r>
              <a:rPr sz="1200" b="0">
                <a:solidFill>
                  <a:srgbClr val="1C1917"/>
                </a:solidFill>
                <a:latin typeface="Verdana"/>
              </a:rPr>
              <a:t>: Combine low stock staples (loose flour, grains, sugar) in bulk orders to negotiate lower merchant shipping fees and improve store gross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Georgia"/>
              </a:rPr>
              <a:t>Prioritize credit recoveries and restock popular high-velocity FMCG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766E"/>
                </a:solidFill>
                <a:latin typeface="Verdana"/>
              </a:rPr>
              <a:t>IMMEDIATE BUSINESS ACTION ITEMS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1917"/>
                </a:solidFill>
                <a:latin typeface="Verdana"/>
              </a:rPr>
              <a:t>• </a:t>
            </a:r>
            <a:r>
              <a:rPr sz="1300" b="1">
                <a:solidFill>
                  <a:srgbClr val="1C1917"/>
                </a:solidFill>
                <a:latin typeface="Verdana"/>
              </a:rPr>
              <a:t>Proactive Khata Reminders &amp; Settlements</a:t>
            </a:r>
            <a:r>
              <a:rPr sz="1300" b="0">
                <a:solidFill>
                  <a:srgbClr val="1C1917"/>
                </a:solidFill>
                <a:latin typeface="Verdana"/>
              </a:rPr>
              <a:t>: With outstanding customer balances totals </a:t>
            </a:r>
            <a:r>
              <a:rPr sz="1300" b="1">
                <a:solidFill>
                  <a:srgbClr val="1C1917"/>
                </a:solidFill>
                <a:latin typeface="Verdana"/>
              </a:rPr>
              <a:t>₹2000.00</a:t>
            </a:r>
            <a:r>
              <a:rPr sz="1300" b="0">
                <a:solidFill>
                  <a:srgbClr val="1C1917"/>
                </a:solidFill>
                <a:latin typeface="Verdana"/>
              </a:rPr>
              <a:t>, prioritize polite payment reminders to top ledger holders. Allow UPI payments directly against khata entries to ease settlement velocity.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1917"/>
                </a:solidFill>
                <a:latin typeface="Verdana"/>
              </a:rPr>
              <a:t>• </a:t>
            </a:r>
            <a:r>
              <a:rPr sz="1300" b="1">
                <a:solidFill>
                  <a:srgbClr val="1C1917"/>
                </a:solidFill>
                <a:latin typeface="Verdana"/>
              </a:rPr>
              <a:t>Multi-turn Billing Refinement</a:t>
            </a:r>
            <a:r>
              <a:rPr sz="1300" b="0">
                <a:solidFill>
                  <a:srgbClr val="1C1917"/>
                </a:solidFill>
                <a:latin typeface="Verdana"/>
              </a:rPr>
              <a:t>: Leverage persistent session drafting to allow customers to build complex grocery bills across the day and check out in single transaction, reducing billing friction.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1917"/>
                </a:solidFill>
                <a:latin typeface="Verdana"/>
              </a:rPr>
              <a:t>• </a:t>
            </a:r>
            <a:r>
              <a:rPr sz="1300" b="1">
                <a:solidFill>
                  <a:srgbClr val="1C1917"/>
                </a:solidFill>
                <a:latin typeface="Verdana"/>
              </a:rPr>
              <a:t>Automated Replenishment of Low Stock SKU</a:t>
            </a:r>
            <a:r>
              <a:rPr sz="1300" b="0">
                <a:solidFill>
                  <a:srgbClr val="1C1917"/>
                </a:solidFill>
                <a:latin typeface="Verdana"/>
              </a:rPr>
              <a:t>: Order replenishment batches for running-out staples and FMCGs to capitalize on high-velocity weekend demands and protect grocery retail customer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